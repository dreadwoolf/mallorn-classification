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a998a723f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a998a723f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sv" sz="1800">
                <a:solidFill>
                  <a:schemeClr val="dk1"/>
                </a:solidFill>
              </a:rPr>
              <a:t>In particular, we’re interested in a class of objects called tidal disruption events (TDEs). These occur whenever an unlucky star is ripped apart by the immense gravitational forces it experiences as it approaches too close to a supermassive black hole. TDEs are a relatively recent astronomical discovery with a very small catalogue of observed objects (~100). However, those that we have found have proven to be tremendously scientifically valuable, particularly for investigating the properties and feeding conditions of otherwise very difficult to observe black holes. Our research capabilities are currently limited by our small sample size, but LSST provides the opportunity to solve that issue – provided we are able to make the best use of it. For more information on tidal disruption events see here(1)(2).</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998a723fb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998a723f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998a723f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a998a723f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998a723f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998a723f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c69fb1a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ac69fb1a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sv"/>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sv"/>
              <a:t>MALLORN Astronomical Classification </a:t>
            </a:r>
            <a:r>
              <a:rPr lang="sv"/>
              <a:t>Challenge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r">
              <a:spcBef>
                <a:spcPts val="0"/>
              </a:spcBef>
              <a:spcAft>
                <a:spcPts val="0"/>
              </a:spcAft>
              <a:buNone/>
            </a:pPr>
            <a:r>
              <a:rPr lang="sv"/>
              <a:t>Rasmus </a:t>
            </a:r>
            <a:r>
              <a:rPr lang="sv"/>
              <a:t>Eliasson</a:t>
            </a:r>
            <a:endParaRPr/>
          </a:p>
          <a:p>
            <a:pPr indent="0" lvl="0" marL="0" rtl="0" algn="r">
              <a:spcBef>
                <a:spcPts val="0"/>
              </a:spcBef>
              <a:spcAft>
                <a:spcPts val="0"/>
              </a:spcAft>
              <a:buNone/>
            </a:pPr>
            <a:r>
              <a:rPr lang="sv"/>
              <a:t>Oskar Flodin</a:t>
            </a:r>
            <a:endParaRPr/>
          </a:p>
        </p:txBody>
      </p:sp>
      <p:sp>
        <p:nvSpPr>
          <p:cNvPr id="56" name="Google Shape;56;p13"/>
          <p:cNvSpPr txBox="1"/>
          <p:nvPr/>
        </p:nvSpPr>
        <p:spPr>
          <a:xfrm>
            <a:off x="490050" y="3445900"/>
            <a:ext cx="6065400" cy="114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sv" sz="1800">
                <a:solidFill>
                  <a:schemeClr val="lt2"/>
                </a:solidFill>
              </a:rPr>
              <a:t>M</a:t>
            </a:r>
            <a:r>
              <a:rPr lang="sv" sz="1800">
                <a:solidFill>
                  <a:schemeClr val="lt2"/>
                </a:solidFill>
              </a:rPr>
              <a:t>any </a:t>
            </a:r>
            <a:r>
              <a:rPr b="1" lang="sv" sz="1800">
                <a:solidFill>
                  <a:schemeClr val="lt2"/>
                </a:solidFill>
              </a:rPr>
              <a:t>A</a:t>
            </a:r>
            <a:r>
              <a:rPr lang="sv" sz="1800">
                <a:solidFill>
                  <a:schemeClr val="lt2"/>
                </a:solidFill>
              </a:rPr>
              <a:t>rtificial </a:t>
            </a:r>
            <a:r>
              <a:rPr b="1" lang="sv" sz="1800">
                <a:solidFill>
                  <a:schemeClr val="lt2"/>
                </a:solidFill>
              </a:rPr>
              <a:t>L</a:t>
            </a:r>
            <a:r>
              <a:rPr lang="sv" sz="1800">
                <a:solidFill>
                  <a:schemeClr val="lt2"/>
                </a:solidFill>
              </a:rPr>
              <a:t>SST </a:t>
            </a:r>
            <a:r>
              <a:rPr b="1" lang="sv" sz="1800">
                <a:solidFill>
                  <a:schemeClr val="lt2"/>
                </a:solidFill>
              </a:rPr>
              <a:t>L</a:t>
            </a:r>
            <a:r>
              <a:rPr lang="sv" sz="1800">
                <a:solidFill>
                  <a:schemeClr val="lt2"/>
                </a:solidFill>
              </a:rPr>
              <a:t>ightcurves </a:t>
            </a:r>
            <a:r>
              <a:rPr b="1" lang="sv" sz="1800">
                <a:solidFill>
                  <a:schemeClr val="lt2"/>
                </a:solidFill>
              </a:rPr>
              <a:t>b</a:t>
            </a:r>
            <a:r>
              <a:rPr lang="sv" sz="1800">
                <a:solidFill>
                  <a:schemeClr val="lt2"/>
                </a:solidFill>
              </a:rPr>
              <a:t>ased </a:t>
            </a:r>
            <a:r>
              <a:rPr b="1" lang="sv" sz="1800">
                <a:solidFill>
                  <a:schemeClr val="lt2"/>
                </a:solidFill>
              </a:rPr>
              <a:t>o</a:t>
            </a:r>
            <a:r>
              <a:rPr lang="sv" sz="1800">
                <a:solidFill>
                  <a:schemeClr val="lt2"/>
                </a:solidFill>
              </a:rPr>
              <a:t>n </a:t>
            </a:r>
            <a:r>
              <a:rPr b="1" lang="sv" sz="1800">
                <a:solidFill>
                  <a:schemeClr val="lt2"/>
                </a:solidFill>
              </a:rPr>
              <a:t>O</a:t>
            </a:r>
            <a:r>
              <a:rPr lang="sv" sz="1800">
                <a:solidFill>
                  <a:schemeClr val="lt2"/>
                </a:solidFill>
              </a:rPr>
              <a:t>bservations </a:t>
            </a:r>
            <a:r>
              <a:rPr b="1" lang="sv" sz="1800">
                <a:solidFill>
                  <a:schemeClr val="lt2"/>
                </a:solidFill>
              </a:rPr>
              <a:t>o</a:t>
            </a:r>
            <a:r>
              <a:rPr lang="sv" sz="1800">
                <a:solidFill>
                  <a:schemeClr val="lt2"/>
                </a:solidFill>
              </a:rPr>
              <a:t>f </a:t>
            </a:r>
            <a:r>
              <a:rPr b="1" lang="sv" sz="1800">
                <a:solidFill>
                  <a:schemeClr val="lt2"/>
                </a:solidFill>
              </a:rPr>
              <a:t>R</a:t>
            </a:r>
            <a:r>
              <a:rPr lang="sv" sz="1800">
                <a:solidFill>
                  <a:schemeClr val="lt2"/>
                </a:solidFill>
              </a:rPr>
              <a:t>eal </a:t>
            </a:r>
            <a:r>
              <a:rPr b="1" lang="sv" sz="1800">
                <a:solidFill>
                  <a:schemeClr val="lt2"/>
                </a:solidFill>
              </a:rPr>
              <a:t>N</a:t>
            </a:r>
            <a:r>
              <a:rPr lang="sv" sz="1800">
                <a:solidFill>
                  <a:schemeClr val="lt2"/>
                </a:solidFill>
              </a:rPr>
              <a:t>uclear </a:t>
            </a:r>
            <a:r>
              <a:rPr b="1" lang="sv" sz="1800">
                <a:solidFill>
                  <a:schemeClr val="lt2"/>
                </a:solidFill>
              </a:rPr>
              <a:t>t</a:t>
            </a:r>
            <a:r>
              <a:rPr lang="sv" sz="1800">
                <a:solidFill>
                  <a:schemeClr val="lt2"/>
                </a:solidFill>
              </a:rPr>
              <a:t>ransients (MALLORN)</a:t>
            </a:r>
            <a:endParaRPr sz="1800">
              <a:solidFill>
                <a:schemeClr val="lt2"/>
              </a:solidFill>
            </a:endParaRPr>
          </a:p>
          <a:p>
            <a:pPr indent="0" lvl="0" marL="0" rtl="0" algn="l">
              <a:lnSpc>
                <a:spcPct val="115000"/>
              </a:lnSpc>
              <a:spcBef>
                <a:spcPts val="1200"/>
              </a:spcBef>
              <a:spcAft>
                <a:spcPts val="1200"/>
              </a:spcAft>
              <a:buNone/>
            </a:pPr>
            <a:r>
              <a:rPr b="1" lang="sv" sz="1800">
                <a:solidFill>
                  <a:schemeClr val="lt2"/>
                </a:solidFill>
              </a:rPr>
              <a:t>L</a:t>
            </a:r>
            <a:r>
              <a:rPr lang="sv" sz="1800">
                <a:solidFill>
                  <a:schemeClr val="lt2"/>
                </a:solidFill>
              </a:rPr>
              <a:t>egacy </a:t>
            </a:r>
            <a:r>
              <a:rPr b="1" lang="sv" sz="1800">
                <a:solidFill>
                  <a:schemeClr val="lt2"/>
                </a:solidFill>
              </a:rPr>
              <a:t>S</a:t>
            </a:r>
            <a:r>
              <a:rPr lang="sv" sz="1800">
                <a:solidFill>
                  <a:schemeClr val="lt2"/>
                </a:solidFill>
              </a:rPr>
              <a:t>urvey </a:t>
            </a:r>
            <a:r>
              <a:rPr b="1" lang="sv" sz="1800">
                <a:solidFill>
                  <a:schemeClr val="lt2"/>
                </a:solidFill>
              </a:rPr>
              <a:t>o</a:t>
            </a:r>
            <a:r>
              <a:rPr lang="sv" sz="1800">
                <a:solidFill>
                  <a:schemeClr val="lt2"/>
                </a:solidFill>
              </a:rPr>
              <a:t>f </a:t>
            </a:r>
            <a:r>
              <a:rPr b="1" lang="sv" sz="1800">
                <a:solidFill>
                  <a:schemeClr val="lt2"/>
                </a:solidFill>
              </a:rPr>
              <a:t>S</a:t>
            </a:r>
            <a:r>
              <a:rPr lang="sv" sz="1800">
                <a:solidFill>
                  <a:schemeClr val="lt2"/>
                </a:solidFill>
              </a:rPr>
              <a:t>pace </a:t>
            </a:r>
            <a:r>
              <a:rPr b="1" lang="sv" sz="1800">
                <a:solidFill>
                  <a:schemeClr val="lt2"/>
                </a:solidFill>
              </a:rPr>
              <a:t>a</a:t>
            </a:r>
            <a:r>
              <a:rPr lang="sv" sz="1800">
                <a:solidFill>
                  <a:schemeClr val="lt2"/>
                </a:solidFill>
              </a:rPr>
              <a:t>nd </a:t>
            </a:r>
            <a:r>
              <a:rPr b="1" lang="sv" sz="1800">
                <a:solidFill>
                  <a:schemeClr val="lt2"/>
                </a:solidFill>
              </a:rPr>
              <a:t>T</a:t>
            </a:r>
            <a:r>
              <a:rPr lang="sv" sz="1800">
                <a:solidFill>
                  <a:schemeClr val="lt2"/>
                </a:solidFill>
              </a:rPr>
              <a:t>ime (LSST)</a:t>
            </a:r>
            <a:endParaRPr sz="1800">
              <a:solidFill>
                <a:schemeClr val="lt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1000"/>
                                        <p:tgtEl>
                                          <p:spTgt spid="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sv"/>
              <a:t>Summary</a:t>
            </a:r>
            <a:r>
              <a:rPr lang="sv"/>
              <a:t> and M</a:t>
            </a:r>
            <a:r>
              <a:rPr lang="sv"/>
              <a:t>otivation</a:t>
            </a:r>
            <a:endParaRPr/>
          </a:p>
        </p:txBody>
      </p:sp>
      <p:sp>
        <p:nvSpPr>
          <p:cNvPr id="62" name="Google Shape;62;p14"/>
          <p:cNvSpPr txBox="1"/>
          <p:nvPr>
            <p:ph idx="1" type="body"/>
          </p:nvPr>
        </p:nvSpPr>
        <p:spPr>
          <a:xfrm>
            <a:off x="311700" y="1138027"/>
            <a:ext cx="8520600" cy="3846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v"/>
              <a:t>Tidal Disruption Events (TDEs)</a:t>
            </a:r>
            <a:endParaRPr/>
          </a:p>
          <a:p>
            <a:pPr indent="-336550" lvl="0" marL="914400" rtl="0" algn="l">
              <a:spcBef>
                <a:spcPts val="0"/>
              </a:spcBef>
              <a:spcAft>
                <a:spcPts val="0"/>
              </a:spcAft>
              <a:buSzPts val="1700"/>
              <a:buChar char="-"/>
            </a:pPr>
            <a:r>
              <a:rPr lang="sv" sz="1500"/>
              <a:t>Star torn apart by supermassive black hole</a:t>
            </a:r>
            <a:endParaRPr sz="1700"/>
          </a:p>
          <a:p>
            <a:pPr indent="-342900" lvl="0" marL="457200" rtl="0" algn="l">
              <a:spcBef>
                <a:spcPts val="0"/>
              </a:spcBef>
              <a:spcAft>
                <a:spcPts val="0"/>
              </a:spcAft>
              <a:buSzPts val="1800"/>
              <a:buChar char="●"/>
            </a:pPr>
            <a:r>
              <a:rPr lang="sv"/>
              <a:t>Recent discovery</a:t>
            </a:r>
            <a:endParaRPr/>
          </a:p>
          <a:p>
            <a:pPr indent="-323850" lvl="0" marL="914400" rtl="0" algn="l">
              <a:spcBef>
                <a:spcPts val="0"/>
              </a:spcBef>
              <a:spcAft>
                <a:spcPts val="0"/>
              </a:spcAft>
              <a:buSzPts val="1500"/>
              <a:buChar char="-"/>
            </a:pPr>
            <a:r>
              <a:rPr lang="sv" sz="1500"/>
              <a:t>100 TDEs observed so far</a:t>
            </a:r>
            <a:endParaRPr sz="1500"/>
          </a:p>
          <a:p>
            <a:pPr indent="-342900" lvl="0" marL="457200" rtl="0" algn="l">
              <a:spcBef>
                <a:spcPts val="0"/>
              </a:spcBef>
              <a:spcAft>
                <a:spcPts val="0"/>
              </a:spcAft>
              <a:buSzPts val="1800"/>
              <a:buChar char="●"/>
            </a:pPr>
            <a:r>
              <a:rPr lang="sv"/>
              <a:t>High scientific value</a:t>
            </a:r>
            <a:endParaRPr/>
          </a:p>
          <a:p>
            <a:pPr indent="-323850" lvl="0" marL="914400" rtl="0" algn="l">
              <a:spcBef>
                <a:spcPts val="0"/>
              </a:spcBef>
              <a:spcAft>
                <a:spcPts val="0"/>
              </a:spcAft>
              <a:buSzPts val="1500"/>
              <a:buChar char="-"/>
            </a:pPr>
            <a:r>
              <a:rPr lang="sv" sz="1500"/>
              <a:t>Prebe black hole properties and accretion</a:t>
            </a:r>
            <a:endParaRPr sz="1500"/>
          </a:p>
          <a:p>
            <a:pPr indent="-342900" lvl="0" marL="457200" rtl="0" algn="l">
              <a:spcBef>
                <a:spcPts val="0"/>
              </a:spcBef>
              <a:spcAft>
                <a:spcPts val="0"/>
              </a:spcAft>
              <a:buSzPts val="1800"/>
              <a:buChar char="●"/>
            </a:pPr>
            <a:r>
              <a:rPr lang="sv"/>
              <a:t>Current limitation</a:t>
            </a:r>
            <a:endParaRPr/>
          </a:p>
          <a:p>
            <a:pPr indent="-323850" lvl="0" marL="914400" rtl="0" algn="l">
              <a:spcBef>
                <a:spcPts val="0"/>
              </a:spcBef>
              <a:spcAft>
                <a:spcPts val="0"/>
              </a:spcAft>
              <a:buSzPts val="1500"/>
              <a:buChar char="-"/>
            </a:pPr>
            <a:r>
              <a:rPr lang="sv" sz="1500"/>
              <a:t>Small sample size</a:t>
            </a:r>
            <a:endParaRPr sz="1500"/>
          </a:p>
          <a:p>
            <a:pPr indent="-342900" lvl="0" marL="457200" rtl="0" algn="l">
              <a:spcBef>
                <a:spcPts val="0"/>
              </a:spcBef>
              <a:spcAft>
                <a:spcPts val="0"/>
              </a:spcAft>
              <a:buSzPts val="1800"/>
              <a:buChar char="●"/>
            </a:pPr>
            <a:r>
              <a:rPr lang="sv"/>
              <a:t>Opportunity with LSST</a:t>
            </a:r>
            <a:endParaRPr/>
          </a:p>
          <a:p>
            <a:pPr indent="-323850" lvl="0" marL="914400" rtl="0" algn="l">
              <a:spcBef>
                <a:spcPts val="0"/>
              </a:spcBef>
              <a:spcAft>
                <a:spcPts val="0"/>
              </a:spcAft>
              <a:buSzPts val="1500"/>
              <a:buChar char="-"/>
            </a:pPr>
            <a:r>
              <a:rPr lang="sv" sz="1500"/>
              <a:t>Huge increase in TDE detections</a:t>
            </a:r>
            <a:endParaRPr sz="1500"/>
          </a:p>
          <a:p>
            <a:pPr indent="-323850" lvl="0" marL="914400" rtl="0" algn="l">
              <a:spcBef>
                <a:spcPts val="0"/>
              </a:spcBef>
              <a:spcAft>
                <a:spcPts val="0"/>
              </a:spcAft>
              <a:buSzPts val="1500"/>
              <a:buChar char="-"/>
            </a:pPr>
            <a:r>
              <a:rPr lang="sv" sz="1500"/>
              <a:t>Requires new tools and strategies</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sv"/>
              <a:t>Possible </a:t>
            </a:r>
            <a:r>
              <a:rPr lang="sv"/>
              <a:t>challenges</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v"/>
              <a:t>Feature engineering - Create additional features from existing data.</a:t>
            </a:r>
            <a:endParaRPr/>
          </a:p>
          <a:p>
            <a:pPr indent="-342900" lvl="0" marL="457200" rtl="0" algn="l">
              <a:spcBef>
                <a:spcPts val="0"/>
              </a:spcBef>
              <a:spcAft>
                <a:spcPts val="0"/>
              </a:spcAft>
              <a:buSzPts val="1800"/>
              <a:buChar char="●"/>
            </a:pPr>
            <a:r>
              <a:rPr lang="sv"/>
              <a:t>Data split into 20 splits - Timeseries of specific stars light fluctuation</a:t>
            </a:r>
            <a:endParaRPr/>
          </a:p>
        </p:txBody>
      </p:sp>
      <p:pic>
        <p:nvPicPr>
          <p:cNvPr id="69" name="Google Shape;69;p15" title="sample.png"/>
          <p:cNvPicPr preferRelativeResize="0"/>
          <p:nvPr/>
        </p:nvPicPr>
        <p:blipFill>
          <a:blip r:embed="rId3">
            <a:alphaModFix/>
          </a:blip>
          <a:stretch>
            <a:fillRect/>
          </a:stretch>
        </p:blipFill>
        <p:spPr>
          <a:xfrm>
            <a:off x="2425688" y="1962456"/>
            <a:ext cx="4292624" cy="2670200"/>
          </a:xfrm>
          <a:prstGeom prst="rect">
            <a:avLst/>
          </a:prstGeom>
          <a:noFill/>
          <a:ln>
            <a:noFill/>
          </a:ln>
        </p:spPr>
      </p:pic>
      <p:sp>
        <p:nvSpPr>
          <p:cNvPr id="70" name="Google Shape;70;p15"/>
          <p:cNvSpPr txBox="1"/>
          <p:nvPr/>
        </p:nvSpPr>
        <p:spPr>
          <a:xfrm>
            <a:off x="1697250" y="4595793"/>
            <a:ext cx="5749500" cy="40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sv" sz="1600">
                <a:solidFill>
                  <a:schemeClr val="lt2"/>
                </a:solidFill>
              </a:rPr>
              <a:t>Sample plot</a:t>
            </a:r>
            <a:r>
              <a:rPr lang="sv" sz="1600">
                <a:solidFill>
                  <a:schemeClr val="lt2"/>
                </a:solidFill>
              </a:rPr>
              <a:t> of stars light fluctuation with different filters</a:t>
            </a:r>
            <a:endParaRPr sz="1600">
              <a:solidFill>
                <a:schemeClr val="l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sv"/>
              <a:t>ML algorithms </a:t>
            </a:r>
            <a:r>
              <a:rPr lang="sv"/>
              <a:t>planned</a:t>
            </a:r>
            <a:r>
              <a:rPr lang="sv"/>
              <a:t> to be Applied</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v"/>
              <a:t>Ensemble of models:</a:t>
            </a:r>
            <a:br>
              <a:rPr lang="sv"/>
            </a:br>
            <a:r>
              <a:rPr lang="sv"/>
              <a:t>- </a:t>
            </a:r>
            <a:r>
              <a:rPr lang="sv"/>
              <a:t>Gradient</a:t>
            </a:r>
            <a:r>
              <a:rPr lang="sv"/>
              <a:t> boosted trees</a:t>
            </a:r>
            <a:br>
              <a:rPr lang="sv"/>
            </a:br>
            <a:r>
              <a:rPr lang="sv"/>
              <a:t>- logistic regression</a:t>
            </a:r>
            <a:br>
              <a:rPr lang="sv"/>
            </a:br>
            <a:r>
              <a:rPr lang="sv"/>
              <a:t>- </a:t>
            </a:r>
            <a:r>
              <a:rPr lang="sv"/>
              <a:t>Random</a:t>
            </a:r>
            <a:r>
              <a:rPr lang="sv"/>
              <a:t> forest</a:t>
            </a:r>
            <a:br>
              <a:rPr lang="sv"/>
            </a:br>
            <a:r>
              <a:rPr lang="sv"/>
              <a:t>- Neural network</a:t>
            </a:r>
            <a:endParaRPr/>
          </a:p>
          <a:p>
            <a:pPr indent="-342900" lvl="0" marL="457200" rtl="0" algn="l">
              <a:spcBef>
                <a:spcPts val="0"/>
              </a:spcBef>
              <a:spcAft>
                <a:spcPts val="0"/>
              </a:spcAft>
              <a:buSzPts val="1800"/>
              <a:buChar char="●"/>
            </a:pPr>
            <a:r>
              <a:rPr lang="sv"/>
              <a:t>Max Voting or similar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sv"/>
              <a:t>Data and evaluations measures planned to be used</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v"/>
              <a:t>Confusion matrix and a combination between </a:t>
            </a:r>
            <a:endParaRPr/>
          </a:p>
          <a:p>
            <a:pPr indent="-342900" lvl="0" marL="457200" rtl="0" algn="l">
              <a:spcBef>
                <a:spcPts val="0"/>
              </a:spcBef>
              <a:spcAft>
                <a:spcPts val="0"/>
              </a:spcAft>
              <a:buSzPts val="1800"/>
              <a:buChar char="●"/>
            </a:pPr>
            <a:r>
              <a:rPr lang="sv"/>
              <a:t>F1			- Req from competition</a:t>
            </a:r>
            <a:endParaRPr/>
          </a:p>
          <a:p>
            <a:pPr indent="-342900" lvl="0" marL="457200" rtl="0" algn="l">
              <a:spcBef>
                <a:spcPts val="0"/>
              </a:spcBef>
              <a:spcAft>
                <a:spcPts val="0"/>
              </a:spcAft>
              <a:buSzPts val="1800"/>
              <a:buChar char="●"/>
            </a:pPr>
            <a:r>
              <a:rPr lang="sv"/>
              <a:t>Recall		</a:t>
            </a:r>
            <a:r>
              <a:rPr lang="sv"/>
              <a:t>- Req from competition</a:t>
            </a:r>
            <a:endParaRPr/>
          </a:p>
          <a:p>
            <a:pPr indent="-342900" lvl="0" marL="457200" rtl="0" algn="l">
              <a:spcBef>
                <a:spcPts val="0"/>
              </a:spcBef>
              <a:spcAft>
                <a:spcPts val="0"/>
              </a:spcAft>
              <a:buSzPts val="1800"/>
              <a:buChar char="●"/>
            </a:pPr>
            <a:r>
              <a:rPr lang="sv"/>
              <a:t>Precision	</a:t>
            </a:r>
            <a:r>
              <a:rPr lang="sv"/>
              <a:t>- Req from competition</a:t>
            </a:r>
            <a:endParaRPr/>
          </a:p>
          <a:p>
            <a:pPr indent="-342900" lvl="0" marL="457200" rtl="0" algn="l">
              <a:spcBef>
                <a:spcPts val="0"/>
              </a:spcBef>
              <a:spcAft>
                <a:spcPts val="0"/>
              </a:spcAft>
              <a:buSzPts val="1800"/>
              <a:buChar char="●"/>
            </a:pPr>
            <a:r>
              <a:rPr lang="sv"/>
              <a:t>Accuracy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sv"/>
              <a:t>Thank you for listening</a:t>
            </a:r>
            <a:endParaRPr/>
          </a:p>
        </p:txBody>
      </p:sp>
      <p:sp>
        <p:nvSpPr>
          <p:cNvPr id="88" name="Google Shape;88;p18"/>
          <p:cNvSpPr txBox="1"/>
          <p:nvPr>
            <p:ph idx="1" type="body"/>
          </p:nvPr>
        </p:nvSpPr>
        <p:spPr>
          <a:xfrm>
            <a:off x="359100" y="4300600"/>
            <a:ext cx="8425800" cy="3894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1200"/>
              </a:spcAft>
              <a:buNone/>
            </a:pPr>
            <a:r>
              <a:rPr lang="sv"/>
              <a:t>Illustration of a tidal disruption event</a:t>
            </a:r>
            <a:endParaRPr/>
          </a:p>
        </p:txBody>
      </p:sp>
      <p:pic>
        <p:nvPicPr>
          <p:cNvPr id="89" name="Google Shape;89;p18" title="8c2393e4-20ea-4173-9a75-52d36a23c49c-a3-tidal-disruption-graphic.jpeg"/>
          <p:cNvPicPr preferRelativeResize="0"/>
          <p:nvPr/>
        </p:nvPicPr>
        <p:blipFill>
          <a:blip r:embed="rId3">
            <a:alphaModFix/>
          </a:blip>
          <a:stretch>
            <a:fillRect/>
          </a:stretch>
        </p:blipFill>
        <p:spPr>
          <a:xfrm>
            <a:off x="1851138" y="1322525"/>
            <a:ext cx="5441715" cy="2856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